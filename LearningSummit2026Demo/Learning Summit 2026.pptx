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85" r:id="rId2"/>
    <p:sldId id="286" r:id="rId3"/>
    <p:sldId id="256" r:id="rId4"/>
    <p:sldId id="257" r:id="rId5"/>
    <p:sldId id="284" r:id="rId6"/>
    <p:sldId id="275" r:id="rId7"/>
    <p:sldId id="267" r:id="rId8"/>
    <p:sldId id="266"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D0D0"/>
    <a:srgbClr val="E6F2EA"/>
    <a:srgbClr val="1E2761"/>
    <a:srgbClr val="E3EAF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37" autoAdjust="0"/>
    <p:restoredTop sz="96234" autoAdjust="0"/>
  </p:normalViewPr>
  <p:slideViewPr>
    <p:cSldViewPr snapToGrid="0" snapToObjects="1">
      <p:cViewPr>
        <p:scale>
          <a:sx n="90" d="100"/>
          <a:sy n="90" d="100"/>
        </p:scale>
        <p:origin x="576" y="480"/>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73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F92B9-32EA-D587-1176-2EABE23B0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57EDE-B5A8-1292-4BFA-2F64A56312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989C2-BEF9-39D0-2BDC-8AC459659B3D}"/>
              </a:ext>
            </a:extLst>
          </p:cNvPr>
          <p:cNvSpPr>
            <a:spLocks noGrp="1"/>
          </p:cNvSpPr>
          <p:nvPr>
            <p:ph type="body" idx="1"/>
          </p:nvPr>
        </p:nvSpPr>
        <p:spPr/>
        <p:txBody>
          <a:bodyPr/>
          <a:lstStyle/>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G1: Automate detection of damaged street name signs, freeing up limited field-inspection staff.</a:t>
            </a:r>
            <a:endParaRPr lang="en-US" sz="1200" dirty="0"/>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Phase 1: Create a tool to manually annotate signs, and review reports; begin testing automated option</a:t>
            </a: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Phase 2: Use automatic tool to retrieve and flag signs, then be able to review detections and keep improving model accuracy</a:t>
            </a:r>
          </a:p>
          <a:p>
            <a:pPr marL="0" indent="0">
              <a:spcAft>
                <a:spcPts val="1600"/>
              </a:spcAft>
              <a:buSzPct val="100000"/>
              <a:buNone/>
            </a:pPr>
            <a:endParaRPr lang="en-US" sz="1200" dirty="0">
              <a:solidFill>
                <a:srgbClr val="1A1A2E"/>
              </a:solidFill>
              <a:latin typeface="Calibri" pitchFamily="34" charset="0"/>
              <a:ea typeface="Calibri" pitchFamily="34" charset="-122"/>
              <a:cs typeface="Calibri" pitchFamily="34" charset="-120"/>
            </a:endParaRP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G2: Combine </a:t>
            </a:r>
            <a:r>
              <a:rPr lang="en-US" sz="1200" dirty="0" err="1">
                <a:solidFill>
                  <a:srgbClr val="1A1A2E"/>
                </a:solidFill>
                <a:latin typeface="Calibri" pitchFamily="34" charset="0"/>
                <a:ea typeface="Calibri" pitchFamily="34" charset="-122"/>
                <a:cs typeface="Calibri" pitchFamily="34" charset="-120"/>
              </a:rPr>
              <a:t>Cyclomedia</a:t>
            </a:r>
            <a:r>
              <a:rPr lang="en-US" sz="1200" dirty="0">
                <a:solidFill>
                  <a:srgbClr val="1A1A2E"/>
                </a:solidFill>
                <a:latin typeface="Calibri" pitchFamily="34" charset="0"/>
                <a:ea typeface="Calibri" pitchFamily="34" charset="-122"/>
                <a:cs typeface="Calibri" pitchFamily="34" charset="-120"/>
              </a:rPr>
              <a:t> street-level imagery with NYC Open Data's existing sign inventory to build a pipeline that automatically flags repairs needed.</a:t>
            </a:r>
            <a:endParaRPr lang="en-US" sz="1200" dirty="0"/>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Phase 1: Use </a:t>
            </a:r>
            <a:r>
              <a:rPr lang="en-US" sz="1200" dirty="0" err="1">
                <a:solidFill>
                  <a:srgbClr val="1A1A2E"/>
                </a:solidFill>
                <a:latin typeface="Calibri" pitchFamily="34" charset="0"/>
                <a:ea typeface="Calibri" pitchFamily="34" charset="-122"/>
                <a:cs typeface="Calibri" pitchFamily="34" charset="-120"/>
              </a:rPr>
              <a:t>Cyclomedia</a:t>
            </a:r>
            <a:r>
              <a:rPr lang="en-US" sz="1200" dirty="0">
                <a:solidFill>
                  <a:srgbClr val="1A1A2E"/>
                </a:solidFill>
                <a:latin typeface="Calibri" pitchFamily="34" charset="0"/>
                <a:ea typeface="Calibri" pitchFamily="34" charset="-122"/>
                <a:cs typeface="Calibri" pitchFamily="34" charset="-120"/>
              </a:rPr>
              <a:t> to fetch images based on area -&gt; retrieve panoramas of each intersection within CB </a:t>
            </a: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Phase 1 bis: Match signs to SIMS entries to facilitate future SIMS integration</a:t>
            </a:r>
          </a:p>
          <a:p>
            <a:pPr marL="0" marR="0" lvl="0" indent="0" algn="l" defTabSz="914400" rtl="0" eaLnBrk="1" fontAlgn="auto" latinLnBrk="0" hangingPunct="1">
              <a:lnSpc>
                <a:spcPct val="100000"/>
              </a:lnSpc>
              <a:spcBef>
                <a:spcPts val="0"/>
              </a:spcBef>
              <a:spcAft>
                <a:spcPts val="1600"/>
              </a:spcAft>
              <a:buClrTx/>
              <a:buSzPct val="100000"/>
              <a:buFontTx/>
              <a:buNone/>
              <a:tabLst/>
              <a:defRPr/>
            </a:pPr>
            <a:r>
              <a:rPr lang="en-US" sz="1200" dirty="0">
                <a:solidFill>
                  <a:srgbClr val="1A1A2E"/>
                </a:solidFill>
                <a:latin typeface="Calibri" pitchFamily="34" charset="0"/>
                <a:ea typeface="Calibri" pitchFamily="34" charset="-122"/>
                <a:cs typeface="Calibri" pitchFamily="34" charset="-120"/>
              </a:rPr>
              <a:t>	Phase 2: Retrieve best angle for each sign; fully trained model that uses </a:t>
            </a:r>
            <a:r>
              <a:rPr lang="en-US" sz="1200" dirty="0" err="1">
                <a:solidFill>
                  <a:srgbClr val="1A1A2E"/>
                </a:solidFill>
                <a:latin typeface="Calibri" pitchFamily="34" charset="0"/>
                <a:ea typeface="Calibri" pitchFamily="34" charset="-122"/>
                <a:cs typeface="Calibri" pitchFamily="34" charset="-120"/>
              </a:rPr>
              <a:t>Cyclomedia</a:t>
            </a:r>
            <a:r>
              <a:rPr lang="en-US" sz="1200" dirty="0">
                <a:solidFill>
                  <a:srgbClr val="1A1A2E"/>
                </a:solidFill>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1600"/>
              </a:spcAft>
              <a:buClrTx/>
              <a:buSzPct val="100000"/>
              <a:buFontTx/>
              <a:buNone/>
              <a:tabLst/>
              <a:defRPr/>
            </a:pPr>
            <a:endParaRPr lang="en-US" sz="1200" dirty="0">
              <a:solidFill>
                <a:srgbClr val="1A1A2E"/>
              </a:solidFill>
              <a:latin typeface="Calibri" pitchFamily="34" charset="0"/>
              <a:ea typeface="Calibri" pitchFamily="34" charset="-122"/>
              <a:cs typeface="Calibri" pitchFamily="34" charset="-120"/>
            </a:endParaRP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G3: Report each flagged sign's location and damage type.</a:t>
            </a:r>
            <a:endParaRPr lang="en-US" sz="1200" dirty="0"/>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Phase 1: Record SIMS data along sign location and reported or flagged damage type</a:t>
            </a: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Phase 1 bis: Create a DB for easy review and queries </a:t>
            </a: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Q: Do they want a DB?</a:t>
            </a:r>
          </a:p>
          <a:p>
            <a:pPr marL="0" indent="0">
              <a:spcAft>
                <a:spcPts val="1600"/>
              </a:spcAft>
              <a:buSzPct val="100000"/>
              <a:buNone/>
            </a:pPr>
            <a:endParaRPr lang="en-US" sz="1200" dirty="0">
              <a:solidFill>
                <a:srgbClr val="1A1A2E"/>
              </a:solidFill>
              <a:latin typeface="Calibri" pitchFamily="34" charset="0"/>
              <a:ea typeface="Calibri" pitchFamily="34" charset="-122"/>
              <a:cs typeface="Calibri" pitchFamily="34" charset="-120"/>
            </a:endParaRP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G4: Deliver an interactive spatial </a:t>
            </a:r>
            <a:r>
              <a:rPr lang="en-US" sz="1200" dirty="0" err="1">
                <a:solidFill>
                  <a:srgbClr val="1A1A2E"/>
                </a:solidFill>
                <a:latin typeface="Calibri" pitchFamily="34" charset="0"/>
                <a:ea typeface="Calibri" pitchFamily="34" charset="-122"/>
                <a:cs typeface="Calibri" pitchFamily="34" charset="-120"/>
              </a:rPr>
              <a:t>webview</a:t>
            </a:r>
            <a:r>
              <a:rPr lang="en-US" sz="1200" dirty="0">
                <a:solidFill>
                  <a:srgbClr val="1A1A2E"/>
                </a:solidFill>
                <a:latin typeface="Calibri" pitchFamily="34" charset="0"/>
                <a:ea typeface="Calibri" pitchFamily="34" charset="-122"/>
                <a:cs typeface="Calibri" pitchFamily="34" charset="-120"/>
              </a:rPr>
              <a:t> plus a dataset formatted for future SIMS ingestion.</a:t>
            </a:r>
            <a:endParaRPr lang="en-US" sz="1200" dirty="0"/>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Phase 1: local hosted </a:t>
            </a:r>
            <a:r>
              <a:rPr lang="en-US" sz="1200" dirty="0" err="1">
                <a:solidFill>
                  <a:srgbClr val="1A1A2E"/>
                </a:solidFill>
                <a:latin typeface="Calibri" pitchFamily="34" charset="0"/>
                <a:ea typeface="Calibri" pitchFamily="34" charset="-122"/>
                <a:cs typeface="Calibri" pitchFamily="34" charset="-120"/>
              </a:rPr>
              <a:t>Webview</a:t>
            </a:r>
            <a:r>
              <a:rPr lang="en-US" sz="1200" dirty="0">
                <a:solidFill>
                  <a:srgbClr val="1A1A2E"/>
                </a:solidFill>
                <a:latin typeface="Calibri" pitchFamily="34" charset="0"/>
                <a:ea typeface="Calibri" pitchFamily="34" charset="-122"/>
                <a:cs typeface="Calibri" pitchFamily="34" charset="-120"/>
              </a:rPr>
              <a:t> to reject/approve reported damage</a:t>
            </a: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Phase 2: server hosted </a:t>
            </a:r>
            <a:r>
              <a:rPr lang="en-US" sz="1200" dirty="0" err="1">
                <a:solidFill>
                  <a:srgbClr val="1A1A2E"/>
                </a:solidFill>
                <a:latin typeface="Calibri" pitchFamily="34" charset="0"/>
                <a:ea typeface="Calibri" pitchFamily="34" charset="-122"/>
                <a:cs typeface="Calibri" pitchFamily="34" charset="-120"/>
              </a:rPr>
              <a:t>webview</a:t>
            </a:r>
            <a:r>
              <a:rPr lang="en-US" sz="1200" dirty="0">
                <a:solidFill>
                  <a:srgbClr val="1A1A2E"/>
                </a:solidFill>
                <a:latin typeface="Calibri" pitchFamily="34" charset="0"/>
                <a:ea typeface="Calibri" pitchFamily="34" charset="-122"/>
                <a:cs typeface="Calibri" pitchFamily="34" charset="-120"/>
              </a:rPr>
              <a:t> to help guide DOT to fixing damage based on priority, review old/already reviewed CBs reports, request reports on CBs</a:t>
            </a:r>
          </a:p>
          <a:p>
            <a:pPr marL="0" indent="0">
              <a:spcAft>
                <a:spcPts val="1600"/>
              </a:spcAft>
              <a:buSzPct val="100000"/>
              <a:buNone/>
            </a:pPr>
            <a:r>
              <a:rPr lang="en-US" sz="1200" dirty="0">
                <a:solidFill>
                  <a:srgbClr val="1A1A2E"/>
                </a:solidFill>
                <a:latin typeface="Calibri" pitchFamily="34" charset="0"/>
                <a:ea typeface="Calibri" pitchFamily="34" charset="-122"/>
                <a:cs typeface="Calibri" pitchFamily="34" charset="-120"/>
              </a:rPr>
              <a:t>		Q: Do you want just a simple spreadsheet that you can share?</a:t>
            </a:r>
          </a:p>
        </p:txBody>
      </p:sp>
      <p:sp>
        <p:nvSpPr>
          <p:cNvPr id="4" name="Slide Number Placeholder 3">
            <a:extLst>
              <a:ext uri="{FF2B5EF4-FFF2-40B4-BE49-F238E27FC236}">
                <a16:creationId xmlns:a16="http://schemas.microsoft.com/office/drawing/2014/main" id="{D8A84EBC-DB64-403B-1889-75CB2B0A83D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112391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DE046-CB16-D79A-57D6-785935725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7FCE2-BA2D-A990-7858-B9F1E3593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E9FCC-6BA2-3650-0038-86327716D2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685A61-0554-DD00-26AD-107FBEBC097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66358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210481-7E7E-46F5-9D8C-24CDCA9D0A22}"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1C2590-FAE9-47D9-9D4A-420610CB549C}" type="slidenum">
              <a:rPr lang="en-US" smtClean="0"/>
              <a:t>‹#›</a:t>
            </a:fld>
            <a:endParaRPr lang="en-US"/>
          </a:p>
        </p:txBody>
      </p:sp>
    </p:spTree>
    <p:extLst>
      <p:ext uri="{BB962C8B-B14F-4D97-AF65-F5344CB8AC3E}">
        <p14:creationId xmlns:p14="http://schemas.microsoft.com/office/powerpoint/2010/main" val="19452943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mromano1/StreetNameSigns/tree/main/LearningSummit2026Demo"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5A0F53-D2A9-94E6-CE7E-EA02E85F6E4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30781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4DF683-DFC2-6E1C-C843-F0959F068322}"/>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14578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1E2761">
            <a:alpha val="99000"/>
          </a:srgb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F8D1086-C0C6-9CBB-DF77-1C1D9C2BC40A}"/>
              </a:ext>
            </a:extLst>
          </p:cNvPr>
          <p:cNvPicPr>
            <a:picLocks noChangeAspect="1"/>
          </p:cNvPicPr>
          <p:nvPr/>
        </p:nvPicPr>
        <p:blipFill>
          <a:blip r:embed="rId3" cstate="email">
            <a:alphaModFix amt="40000"/>
            <a:extLst>
              <a:ext uri="{28A0092B-C50C-407E-A947-70E740481C1C}">
                <a14:useLocalDpi xmlns:a14="http://schemas.microsoft.com/office/drawing/2010/main"/>
              </a:ext>
            </a:extLst>
          </a:blip>
          <a:srcRect t="15354" b="9445"/>
          <a:stretch>
            <a:fillRect/>
          </a:stretch>
        </p:blipFill>
        <p:spPr>
          <a:xfrm>
            <a:off x="0" y="0"/>
            <a:ext cx="12192000" cy="6858000"/>
          </a:xfrm>
          <a:prstGeom prst="rect">
            <a:avLst/>
          </a:prstGeom>
        </p:spPr>
      </p:pic>
      <p:sp>
        <p:nvSpPr>
          <p:cNvPr id="4" name="Text 2"/>
          <p:cNvSpPr/>
          <p:nvPr/>
        </p:nvSpPr>
        <p:spPr>
          <a:xfrm>
            <a:off x="380577" y="997466"/>
            <a:ext cx="11549380" cy="1872734"/>
          </a:xfrm>
          <a:prstGeom prst="rect">
            <a:avLst/>
          </a:prstGeom>
          <a:noFill/>
          <a:ln/>
          <a:effectLst>
            <a:outerShdw blurRad="50800" dist="38100" dir="8100000" algn="tr" rotWithShape="0">
              <a:prstClr val="black">
                <a:alpha val="88000"/>
              </a:prstClr>
            </a:outerShdw>
          </a:effectLst>
        </p:spPr>
        <p:txBody>
          <a:bodyPr wrap="square" lIns="0" tIns="0" rIns="0" bIns="0" rtlCol="0" anchor="ctr"/>
          <a:lstStyle/>
          <a:p>
            <a:pPr marL="0" indent="0">
              <a:buNone/>
            </a:pPr>
            <a:r>
              <a:rPr lang="en-US" sz="7200" b="1" kern="0" spc="300" dirty="0">
                <a:solidFill>
                  <a:srgbClr val="CADCFC"/>
                </a:solidFill>
                <a:latin typeface="Calibri" pitchFamily="34" charset="0"/>
                <a:ea typeface="Calibri" pitchFamily="34" charset="-122"/>
                <a:cs typeface="Calibri" pitchFamily="34" charset="-120"/>
              </a:rPr>
              <a:t>DETECTING STREET NAME SIGNS DETERIORATION USING COMPUTER VISION</a:t>
            </a:r>
            <a:endParaRPr lang="en-US" sz="7200" dirty="0"/>
          </a:p>
        </p:txBody>
      </p:sp>
      <p:sp>
        <p:nvSpPr>
          <p:cNvPr id="6" name="Text 4"/>
          <p:cNvSpPr/>
          <p:nvPr/>
        </p:nvSpPr>
        <p:spPr>
          <a:xfrm>
            <a:off x="380577" y="3527729"/>
            <a:ext cx="10058400" cy="457200"/>
          </a:xfrm>
          <a:prstGeom prst="rect">
            <a:avLst/>
          </a:prstGeom>
          <a:noFill/>
          <a:ln/>
          <a:effectLst>
            <a:outerShdw blurRad="50800" dist="38100" dir="8100000" algn="tr" rotWithShape="0">
              <a:prstClr val="black">
                <a:alpha val="88000"/>
              </a:prstClr>
            </a:outerShdw>
          </a:effectLst>
        </p:spPr>
        <p:txBody>
          <a:bodyPr wrap="square" lIns="0" tIns="0" rIns="0" bIns="0" rtlCol="0" anchor="ctr"/>
          <a:lstStyle/>
          <a:p>
            <a:pPr marL="0" indent="0">
              <a:buNone/>
            </a:pPr>
            <a:r>
              <a:rPr lang="en-US" sz="2800" i="1" dirty="0">
                <a:solidFill>
                  <a:srgbClr val="CADCFC"/>
                </a:solidFill>
                <a:latin typeface="Calibri" pitchFamily="34" charset="0"/>
                <a:ea typeface="Calibri" pitchFamily="34" charset="-122"/>
                <a:cs typeface="Calibri" pitchFamily="34" charset="-120"/>
              </a:rPr>
              <a:t>Karim Nabahi and Maddalena Romano, October 21, 2026</a:t>
            </a:r>
            <a:endParaRPr lang="en-US" sz="2800" dirty="0"/>
          </a:p>
        </p:txBody>
      </p:sp>
      <p:sp>
        <p:nvSpPr>
          <p:cNvPr id="7" name="Text 5"/>
          <p:cNvSpPr/>
          <p:nvPr/>
        </p:nvSpPr>
        <p:spPr>
          <a:xfrm>
            <a:off x="275589" y="6143321"/>
            <a:ext cx="11549379" cy="365760"/>
          </a:xfrm>
          <a:prstGeom prst="rect">
            <a:avLst/>
          </a:prstGeom>
          <a:noFill/>
          <a:ln/>
          <a:effectLst>
            <a:outerShdw blurRad="50800" dist="38100" dir="8100000" algn="tr" rotWithShape="0">
              <a:prstClr val="black">
                <a:alpha val="88000"/>
              </a:prstClr>
            </a:outerShdw>
          </a:effectLst>
        </p:spPr>
        <p:txBody>
          <a:bodyPr wrap="square" lIns="0" tIns="0" rIns="0" bIns="0" rtlCol="0" anchor="ctr"/>
          <a:lstStyle/>
          <a:p>
            <a:pPr marL="0" indent="0">
              <a:buNone/>
            </a:pPr>
            <a:r>
              <a:rPr lang="en-US" sz="2800" dirty="0">
                <a:solidFill>
                  <a:srgbClr val="CADCFC"/>
                </a:solidFill>
                <a:latin typeface="Calibri" pitchFamily="34" charset="0"/>
                <a:ea typeface="Calibri" pitchFamily="34" charset="-122"/>
                <a:cs typeface="Calibri" pitchFamily="34" charset="-120"/>
              </a:rPr>
              <a:t>Prepared for the 2026 Learning Summit, Office of Technology and Innovation</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p:cNvSpPr/>
          <p:nvPr/>
        </p:nvSpPr>
        <p:spPr>
          <a:xfrm>
            <a:off x="640080" y="4777739"/>
            <a:ext cx="3418990" cy="1412119"/>
          </a:xfrm>
          <a:prstGeom prst="rect">
            <a:avLst/>
          </a:prstGeom>
        </p:spPr>
        <p:txBody>
          <a:bodyPr vert="horz" lIns="91440" tIns="45720" rIns="91440" bIns="45720" rtlCol="0" anchor="ctr">
            <a:noAutofit/>
          </a:bodyPr>
          <a:lstStyle/>
          <a:p>
            <a:pPr marL="0" indent="0">
              <a:lnSpc>
                <a:spcPct val="90000"/>
              </a:lnSpc>
              <a:spcBef>
                <a:spcPct val="0"/>
              </a:spcBef>
              <a:spcAft>
                <a:spcPts val="600"/>
              </a:spcAft>
            </a:pPr>
            <a:r>
              <a:rPr lang="en-US" sz="5400" b="1" dirty="0">
                <a:ea typeface="+mj-ea"/>
                <a:cs typeface="+mj-cs"/>
              </a:rPr>
              <a:t>The Issue</a:t>
            </a:r>
            <a:endParaRPr lang="en-US" sz="5400" dirty="0">
              <a:ea typeface="+mj-ea"/>
              <a:cs typeface="+mj-cs"/>
            </a:endParaRPr>
          </a:p>
        </p:txBody>
      </p:sp>
      <p:pic>
        <p:nvPicPr>
          <p:cNvPr id="5" name="Picture 4" descr="Throughout the City, a New Generation of Street Signs - The New York Times">
            <a:extLst>
              <a:ext uri="{FF2B5EF4-FFF2-40B4-BE49-F238E27FC236}">
                <a16:creationId xmlns:a16="http://schemas.microsoft.com/office/drawing/2014/main" id="{1CA7DF26-0DDE-CB0C-1011-BBC7B488C4A1}"/>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0" y="10"/>
            <a:ext cx="12191980" cy="4069984"/>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2"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sX0" fmla="*/ 0 w 1371600"/>
              <a:gd name="csY0" fmla="*/ 0 h 18288"/>
              <a:gd name="csX1" fmla="*/ 685800 w 1371600"/>
              <a:gd name="csY1" fmla="*/ 0 h 18288"/>
              <a:gd name="csX2" fmla="*/ 1371600 w 1371600"/>
              <a:gd name="csY2" fmla="*/ 0 h 18288"/>
              <a:gd name="csX3" fmla="*/ 1371600 w 1371600"/>
              <a:gd name="csY3" fmla="*/ 18288 h 18288"/>
              <a:gd name="csX4" fmla="*/ 713232 w 1371600"/>
              <a:gd name="csY4" fmla="*/ 18288 h 18288"/>
              <a:gd name="csX5" fmla="*/ 0 w 1371600"/>
              <a:gd name="csY5" fmla="*/ 18288 h 18288"/>
              <a:gd name="csX6" fmla="*/ 0 w 1371600"/>
              <a:gd name="csY6" fmla="*/ 0 h 18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2"/>
          <p:cNvSpPr/>
          <p:nvPr/>
        </p:nvSpPr>
        <p:spPr>
          <a:xfrm>
            <a:off x="4654294" y="4764844"/>
            <a:ext cx="6897626" cy="1412119"/>
          </a:xfrm>
          <a:prstGeom prst="rect">
            <a:avLst/>
          </a:prstGeom>
        </p:spPr>
        <p:txBody>
          <a:bodyPr vert="horz" lIns="91440" tIns="45720" rIns="91440" bIns="45720" rtlCol="0" anchor="ctr">
            <a:noAutofit/>
          </a:bodyPr>
          <a:lstStyle/>
          <a:p>
            <a:pPr marL="342900" indent="-342900">
              <a:lnSpc>
                <a:spcPct val="90000"/>
              </a:lnSpc>
              <a:spcAft>
                <a:spcPts val="600"/>
              </a:spcAft>
              <a:buSzPct val="100000"/>
              <a:buFont typeface="Arial" panose="020B0604020202020204" pitchFamily="34" charset="0"/>
              <a:buChar char="•"/>
            </a:pPr>
            <a:r>
              <a:rPr lang="en-US" sz="2800" dirty="0"/>
              <a:t>165,000+ signs across 45,000+ intersections</a:t>
            </a:r>
          </a:p>
          <a:p>
            <a:pPr marL="342900" indent="-342900">
              <a:lnSpc>
                <a:spcPct val="90000"/>
              </a:lnSpc>
              <a:spcAft>
                <a:spcPts val="600"/>
              </a:spcAft>
              <a:buSzPct val="100000"/>
              <a:buFont typeface="Arial" panose="020B0604020202020204" pitchFamily="34" charset="0"/>
              <a:buChar char="•"/>
            </a:pPr>
            <a:r>
              <a:rPr lang="en-US" sz="2800" dirty="0"/>
              <a:t>Relies on field inspection/public reporting</a:t>
            </a:r>
          </a:p>
          <a:p>
            <a:pPr marL="342900" indent="-342900">
              <a:lnSpc>
                <a:spcPct val="90000"/>
              </a:lnSpc>
              <a:spcAft>
                <a:spcPts val="600"/>
              </a:spcAft>
              <a:buSzPct val="100000"/>
              <a:buFont typeface="Arial" panose="020B0604020202020204" pitchFamily="34" charset="0"/>
              <a:buChar char="•"/>
            </a:pPr>
            <a:r>
              <a:rPr lang="en-US" sz="2800" dirty="0"/>
              <a:t>Reactive instead of proactive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2FA5A6-7792-1DF4-10AD-0445308DEDDD}"/>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a:extLst>
              <a:ext uri="{FF2B5EF4-FFF2-40B4-BE49-F238E27FC236}">
                <a16:creationId xmlns:a16="http://schemas.microsoft.com/office/drawing/2014/main" id="{F97DBE84-2056-7608-3BC2-5D9350C328CB}"/>
              </a:ext>
            </a:extLst>
          </p:cNvPr>
          <p:cNvSpPr/>
          <p:nvPr/>
        </p:nvSpPr>
        <p:spPr>
          <a:xfrm>
            <a:off x="640080" y="325369"/>
            <a:ext cx="4368602" cy="1956841"/>
          </a:xfrm>
          <a:prstGeom prst="rect">
            <a:avLst/>
          </a:prstGeom>
        </p:spPr>
        <p:txBody>
          <a:bodyPr vert="horz" lIns="91440" tIns="45720" rIns="91440" bIns="45720" rtlCol="0" anchor="b">
            <a:normAutofit/>
          </a:bodyPr>
          <a:lstStyle/>
          <a:p>
            <a:pPr marL="0" indent="0">
              <a:lnSpc>
                <a:spcPct val="90000"/>
              </a:lnSpc>
              <a:spcBef>
                <a:spcPct val="0"/>
              </a:spcBef>
              <a:spcAft>
                <a:spcPts val="600"/>
              </a:spcAft>
            </a:pPr>
            <a:r>
              <a:rPr lang="en-US" sz="5400" b="1" dirty="0">
                <a:ea typeface="+mj-ea"/>
                <a:cs typeface="+mj-cs"/>
              </a:rPr>
              <a:t>Our Solution</a:t>
            </a:r>
          </a:p>
        </p:txBody>
      </p:sp>
      <p:sp>
        <p:nvSpPr>
          <p:cNvPr id="2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2">
            <a:extLst>
              <a:ext uri="{FF2B5EF4-FFF2-40B4-BE49-F238E27FC236}">
                <a16:creationId xmlns:a16="http://schemas.microsoft.com/office/drawing/2014/main" id="{CD391A18-9C46-B949-460C-34AB993EE768}"/>
              </a:ext>
            </a:extLst>
          </p:cNvPr>
          <p:cNvSpPr/>
          <p:nvPr/>
        </p:nvSpPr>
        <p:spPr>
          <a:xfrm>
            <a:off x="640080" y="2872899"/>
            <a:ext cx="4243589" cy="3320668"/>
          </a:xfrm>
          <a:prstGeom prst="rect">
            <a:avLst/>
          </a:prstGeom>
        </p:spPr>
        <p:txBody>
          <a:bodyPr vert="horz" lIns="91440" tIns="45720" rIns="91440" bIns="45720" rtlCol="0">
            <a:normAutofit/>
          </a:bodyPr>
          <a:lstStyle/>
          <a:p>
            <a:pPr marL="342900" indent="-228600">
              <a:lnSpc>
                <a:spcPct val="90000"/>
              </a:lnSpc>
              <a:spcAft>
                <a:spcPts val="1600"/>
              </a:spcAft>
              <a:buSzPct val="100000"/>
              <a:buFont typeface="Arial" panose="020B0604020202020204" pitchFamily="34" charset="0"/>
              <a:buChar char="•"/>
            </a:pPr>
            <a:r>
              <a:rPr lang="en-US" sz="2800" dirty="0"/>
              <a:t>Automate detection of damaged signs</a:t>
            </a:r>
          </a:p>
          <a:p>
            <a:pPr marL="342900" indent="-228600">
              <a:lnSpc>
                <a:spcPct val="90000"/>
              </a:lnSpc>
              <a:spcAft>
                <a:spcPts val="1600"/>
              </a:spcAft>
              <a:buSzPct val="100000"/>
              <a:buFont typeface="Arial" panose="020B0604020202020204" pitchFamily="34" charset="0"/>
              <a:buChar char="•"/>
            </a:pPr>
            <a:r>
              <a:rPr lang="en-US" sz="2800" dirty="0"/>
              <a:t>Build Pipeline with </a:t>
            </a:r>
            <a:r>
              <a:rPr lang="en-US" sz="2800" dirty="0" err="1"/>
              <a:t>Cyclomedia</a:t>
            </a:r>
            <a:r>
              <a:rPr lang="en-US" sz="2800" dirty="0"/>
              <a:t> + sign inventory </a:t>
            </a:r>
          </a:p>
          <a:p>
            <a:pPr marL="342900" indent="-228600">
              <a:lnSpc>
                <a:spcPct val="90000"/>
              </a:lnSpc>
              <a:spcAft>
                <a:spcPts val="1600"/>
              </a:spcAft>
              <a:buSzPct val="100000"/>
              <a:buFont typeface="Arial" panose="020B0604020202020204" pitchFamily="34" charset="0"/>
              <a:buChar char="•"/>
            </a:pPr>
            <a:r>
              <a:rPr lang="en-US" sz="2800" dirty="0"/>
              <a:t>Report location, damage type of flagged signs</a:t>
            </a:r>
          </a:p>
        </p:txBody>
      </p:sp>
      <p:pic>
        <p:nvPicPr>
          <p:cNvPr id="8" name="Picture 7" descr="How to rename a street in NYC: The right way to dub your block - New York  Amsterdam News">
            <a:extLst>
              <a:ext uri="{FF2B5EF4-FFF2-40B4-BE49-F238E27FC236}">
                <a16:creationId xmlns:a16="http://schemas.microsoft.com/office/drawing/2014/main" id="{0975779E-5072-CCAC-07D0-F8EA18057C7F}"/>
              </a:ext>
            </a:extLst>
          </p:cNvPr>
          <p:cNvPicPr>
            <a:picLocks noChangeAspect="1"/>
          </p:cNvPicPr>
          <p:nvPr/>
        </p:nvPicPr>
        <p:blipFill>
          <a:blip r:embed="rId3" cstate="email">
            <a:extLst>
              <a:ext uri="{28A0092B-C50C-407E-A947-70E740481C1C}">
                <a14:useLocalDpi xmlns:a14="http://schemas.microsoft.com/office/drawing/2010/main"/>
              </a:ext>
            </a:extLst>
          </a:blip>
          <a:srcRect b="-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283534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A73B454-6A59-2DF9-D8A1-2A9C0CD4A22D}"/>
              </a:ext>
            </a:extLst>
          </p:cNvPr>
          <p:cNvGrpSpPr/>
          <p:nvPr/>
        </p:nvGrpSpPr>
        <p:grpSpPr>
          <a:xfrm>
            <a:off x="620485" y="1388595"/>
            <a:ext cx="2606707" cy="2205421"/>
            <a:chOff x="838200" y="1397304"/>
            <a:chExt cx="2606707" cy="2205421"/>
          </a:xfrm>
        </p:grpSpPr>
        <p:pic>
          <p:nvPicPr>
            <p:cNvPr id="4" name="Picture 3" descr="Image001">
              <a:extLst>
                <a:ext uri="{FF2B5EF4-FFF2-40B4-BE49-F238E27FC236}">
                  <a16:creationId xmlns:a16="http://schemas.microsoft.com/office/drawing/2014/main" id="{7D5DA6F8-5DE5-F2FF-2745-8DEAB49A7F2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8200" y="1858969"/>
              <a:ext cx="2606707" cy="1743756"/>
            </a:xfrm>
            <a:prstGeom prst="rect">
              <a:avLst/>
            </a:prstGeom>
          </p:spPr>
        </p:pic>
        <p:sp>
          <p:nvSpPr>
            <p:cNvPr id="5" name="TextBox 4">
              <a:extLst>
                <a:ext uri="{FF2B5EF4-FFF2-40B4-BE49-F238E27FC236}">
                  <a16:creationId xmlns:a16="http://schemas.microsoft.com/office/drawing/2014/main" id="{EF1E6122-53D3-9C09-AEE9-DD8876F8053E}"/>
                </a:ext>
              </a:extLst>
            </p:cNvPr>
            <p:cNvSpPr txBox="1"/>
            <p:nvPr/>
          </p:nvSpPr>
          <p:spPr>
            <a:xfrm>
              <a:off x="838200" y="1397304"/>
              <a:ext cx="2606707" cy="523220"/>
            </a:xfrm>
            <a:prstGeom prst="rect">
              <a:avLst/>
            </a:prstGeom>
            <a:noFill/>
          </p:spPr>
          <p:txBody>
            <a:bodyPr wrap="square" rtlCol="0">
              <a:spAutoFit/>
            </a:bodyPr>
            <a:lstStyle/>
            <a:p>
              <a:pPr algn="ctr"/>
              <a:r>
                <a:rPr lang="en-US" sz="2800" dirty="0"/>
                <a:t>Missing</a:t>
              </a:r>
            </a:p>
          </p:txBody>
        </p:sp>
      </p:grpSp>
      <p:grpSp>
        <p:nvGrpSpPr>
          <p:cNvPr id="7" name="Group 6">
            <a:extLst>
              <a:ext uri="{FF2B5EF4-FFF2-40B4-BE49-F238E27FC236}">
                <a16:creationId xmlns:a16="http://schemas.microsoft.com/office/drawing/2014/main" id="{2617B45F-ED71-5C14-D20A-57E52F68C471}"/>
              </a:ext>
            </a:extLst>
          </p:cNvPr>
          <p:cNvGrpSpPr/>
          <p:nvPr/>
        </p:nvGrpSpPr>
        <p:grpSpPr>
          <a:xfrm>
            <a:off x="3420291" y="1388595"/>
            <a:ext cx="2606707" cy="2197798"/>
            <a:chOff x="838200" y="1397304"/>
            <a:chExt cx="2606707" cy="2197798"/>
          </a:xfrm>
        </p:grpSpPr>
        <p:pic>
          <p:nvPicPr>
            <p:cNvPr id="8" name="Picture 7">
              <a:extLst>
                <a:ext uri="{FF2B5EF4-FFF2-40B4-BE49-F238E27FC236}">
                  <a16:creationId xmlns:a16="http://schemas.microsoft.com/office/drawing/2014/main" id="{F024D81B-7FBE-6878-0AE2-39FC4A37DB4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38200" y="1866591"/>
              <a:ext cx="2606707" cy="1728511"/>
            </a:xfrm>
            <a:prstGeom prst="rect">
              <a:avLst/>
            </a:prstGeom>
          </p:spPr>
        </p:pic>
        <p:sp>
          <p:nvSpPr>
            <p:cNvPr id="9" name="TextBox 8">
              <a:extLst>
                <a:ext uri="{FF2B5EF4-FFF2-40B4-BE49-F238E27FC236}">
                  <a16:creationId xmlns:a16="http://schemas.microsoft.com/office/drawing/2014/main" id="{3B081840-A748-A4B3-DE30-8B1D38DC18BB}"/>
                </a:ext>
              </a:extLst>
            </p:cNvPr>
            <p:cNvSpPr txBox="1"/>
            <p:nvPr/>
          </p:nvSpPr>
          <p:spPr>
            <a:xfrm>
              <a:off x="838200" y="1397304"/>
              <a:ext cx="2606707" cy="523220"/>
            </a:xfrm>
            <a:prstGeom prst="rect">
              <a:avLst/>
            </a:prstGeom>
            <a:noFill/>
          </p:spPr>
          <p:txBody>
            <a:bodyPr wrap="square" rtlCol="0">
              <a:spAutoFit/>
            </a:bodyPr>
            <a:lstStyle/>
            <a:p>
              <a:pPr algn="ctr"/>
              <a:r>
                <a:rPr lang="en-US" sz="2800" dirty="0"/>
                <a:t>Bent/Damaged</a:t>
              </a:r>
            </a:p>
          </p:txBody>
        </p:sp>
      </p:grpSp>
      <p:grpSp>
        <p:nvGrpSpPr>
          <p:cNvPr id="11" name="Group 10">
            <a:extLst>
              <a:ext uri="{FF2B5EF4-FFF2-40B4-BE49-F238E27FC236}">
                <a16:creationId xmlns:a16="http://schemas.microsoft.com/office/drawing/2014/main" id="{C77E55EA-85E6-1640-AB50-7F2E705C6C00}"/>
              </a:ext>
            </a:extLst>
          </p:cNvPr>
          <p:cNvGrpSpPr/>
          <p:nvPr/>
        </p:nvGrpSpPr>
        <p:grpSpPr>
          <a:xfrm>
            <a:off x="6220097" y="1388595"/>
            <a:ext cx="2606707" cy="2197798"/>
            <a:chOff x="838200" y="1397304"/>
            <a:chExt cx="2606707" cy="2197798"/>
          </a:xfrm>
        </p:grpSpPr>
        <p:pic>
          <p:nvPicPr>
            <p:cNvPr id="12" name="Picture 11">
              <a:extLst>
                <a:ext uri="{FF2B5EF4-FFF2-40B4-BE49-F238E27FC236}">
                  <a16:creationId xmlns:a16="http://schemas.microsoft.com/office/drawing/2014/main" id="{01C98F23-9918-204F-CEFE-656B97BCC72A}"/>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838200" y="1866591"/>
              <a:ext cx="2606707" cy="1728511"/>
            </a:xfrm>
            <a:prstGeom prst="rect">
              <a:avLst/>
            </a:prstGeom>
          </p:spPr>
        </p:pic>
        <p:sp>
          <p:nvSpPr>
            <p:cNvPr id="13" name="TextBox 12">
              <a:extLst>
                <a:ext uri="{FF2B5EF4-FFF2-40B4-BE49-F238E27FC236}">
                  <a16:creationId xmlns:a16="http://schemas.microsoft.com/office/drawing/2014/main" id="{89F6B284-B8A2-2790-4517-E2219430D531}"/>
                </a:ext>
              </a:extLst>
            </p:cNvPr>
            <p:cNvSpPr txBox="1"/>
            <p:nvPr/>
          </p:nvSpPr>
          <p:spPr>
            <a:xfrm>
              <a:off x="838200" y="1397304"/>
              <a:ext cx="2606707" cy="523220"/>
            </a:xfrm>
            <a:prstGeom prst="rect">
              <a:avLst/>
            </a:prstGeom>
            <a:noFill/>
          </p:spPr>
          <p:txBody>
            <a:bodyPr wrap="square" rtlCol="0">
              <a:spAutoFit/>
            </a:bodyPr>
            <a:lstStyle/>
            <a:p>
              <a:pPr algn="ctr"/>
              <a:r>
                <a:rPr lang="en-US" sz="2800" dirty="0"/>
                <a:t>Old Design</a:t>
              </a:r>
            </a:p>
          </p:txBody>
        </p:sp>
      </p:grpSp>
      <p:grpSp>
        <p:nvGrpSpPr>
          <p:cNvPr id="14" name="Group 13">
            <a:extLst>
              <a:ext uri="{FF2B5EF4-FFF2-40B4-BE49-F238E27FC236}">
                <a16:creationId xmlns:a16="http://schemas.microsoft.com/office/drawing/2014/main" id="{80CA15E5-8616-D264-EF23-06C75A09F8F4}"/>
              </a:ext>
            </a:extLst>
          </p:cNvPr>
          <p:cNvGrpSpPr/>
          <p:nvPr/>
        </p:nvGrpSpPr>
        <p:grpSpPr>
          <a:xfrm>
            <a:off x="9019903" y="1388595"/>
            <a:ext cx="2606707" cy="2213043"/>
            <a:chOff x="838200" y="1397304"/>
            <a:chExt cx="2606707" cy="2213043"/>
          </a:xfrm>
        </p:grpSpPr>
        <p:pic>
          <p:nvPicPr>
            <p:cNvPr id="15" name="Picture 14">
              <a:extLst>
                <a:ext uri="{FF2B5EF4-FFF2-40B4-BE49-F238E27FC236}">
                  <a16:creationId xmlns:a16="http://schemas.microsoft.com/office/drawing/2014/main" id="{AAA0AD18-E8C2-F374-8E59-A471BBB85480}"/>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838200" y="1866591"/>
              <a:ext cx="2606707" cy="1743756"/>
            </a:xfrm>
            <a:prstGeom prst="rect">
              <a:avLst/>
            </a:prstGeom>
          </p:spPr>
        </p:pic>
        <p:sp>
          <p:nvSpPr>
            <p:cNvPr id="16" name="TextBox 15">
              <a:extLst>
                <a:ext uri="{FF2B5EF4-FFF2-40B4-BE49-F238E27FC236}">
                  <a16:creationId xmlns:a16="http://schemas.microsoft.com/office/drawing/2014/main" id="{468DD539-300C-E756-B362-C391C07F13E3}"/>
                </a:ext>
              </a:extLst>
            </p:cNvPr>
            <p:cNvSpPr txBox="1"/>
            <p:nvPr/>
          </p:nvSpPr>
          <p:spPr>
            <a:xfrm>
              <a:off x="838200" y="1397304"/>
              <a:ext cx="2606707" cy="523220"/>
            </a:xfrm>
            <a:prstGeom prst="rect">
              <a:avLst/>
            </a:prstGeom>
            <a:noFill/>
          </p:spPr>
          <p:txBody>
            <a:bodyPr wrap="square" rtlCol="0">
              <a:spAutoFit/>
            </a:bodyPr>
            <a:lstStyle/>
            <a:p>
              <a:pPr algn="ctr"/>
              <a:r>
                <a:rPr lang="en-US" sz="2800" dirty="0"/>
                <a:t>Faded</a:t>
              </a:r>
            </a:p>
          </p:txBody>
        </p:sp>
      </p:grpSp>
      <p:grpSp>
        <p:nvGrpSpPr>
          <p:cNvPr id="17" name="Group 16">
            <a:extLst>
              <a:ext uri="{FF2B5EF4-FFF2-40B4-BE49-F238E27FC236}">
                <a16:creationId xmlns:a16="http://schemas.microsoft.com/office/drawing/2014/main" id="{67B5E426-E7BA-99AE-90F6-7C8566F294D7}"/>
              </a:ext>
            </a:extLst>
          </p:cNvPr>
          <p:cNvGrpSpPr/>
          <p:nvPr/>
        </p:nvGrpSpPr>
        <p:grpSpPr>
          <a:xfrm>
            <a:off x="386269" y="4116617"/>
            <a:ext cx="2606707" cy="2205421"/>
            <a:chOff x="838200" y="1397304"/>
            <a:chExt cx="2606707" cy="2205421"/>
          </a:xfrm>
        </p:grpSpPr>
        <p:pic>
          <p:nvPicPr>
            <p:cNvPr id="18" name="Picture 17">
              <a:extLst>
                <a:ext uri="{FF2B5EF4-FFF2-40B4-BE49-F238E27FC236}">
                  <a16:creationId xmlns:a16="http://schemas.microsoft.com/office/drawing/2014/main" id="{4DEDFE52-7804-2DCA-DF0B-617D1750C4F5}"/>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996895" y="1858969"/>
              <a:ext cx="2289317" cy="1743756"/>
            </a:xfrm>
            <a:prstGeom prst="rect">
              <a:avLst/>
            </a:prstGeom>
          </p:spPr>
        </p:pic>
        <p:sp>
          <p:nvSpPr>
            <p:cNvPr id="19" name="TextBox 18">
              <a:extLst>
                <a:ext uri="{FF2B5EF4-FFF2-40B4-BE49-F238E27FC236}">
                  <a16:creationId xmlns:a16="http://schemas.microsoft.com/office/drawing/2014/main" id="{8D2C9513-5F05-91BB-48A5-3CCE034D0965}"/>
                </a:ext>
              </a:extLst>
            </p:cNvPr>
            <p:cNvSpPr txBox="1"/>
            <p:nvPr/>
          </p:nvSpPr>
          <p:spPr>
            <a:xfrm>
              <a:off x="838200" y="1397304"/>
              <a:ext cx="2606707" cy="523220"/>
            </a:xfrm>
            <a:prstGeom prst="rect">
              <a:avLst/>
            </a:prstGeom>
            <a:noFill/>
          </p:spPr>
          <p:txBody>
            <a:bodyPr wrap="square" rtlCol="0">
              <a:spAutoFit/>
            </a:bodyPr>
            <a:lstStyle/>
            <a:p>
              <a:pPr algn="ctr"/>
              <a:r>
                <a:rPr lang="en-US" sz="2800" dirty="0"/>
                <a:t>Hanging</a:t>
              </a:r>
            </a:p>
          </p:txBody>
        </p:sp>
      </p:grpSp>
      <p:grpSp>
        <p:nvGrpSpPr>
          <p:cNvPr id="21" name="Group 20">
            <a:extLst>
              <a:ext uri="{FF2B5EF4-FFF2-40B4-BE49-F238E27FC236}">
                <a16:creationId xmlns:a16="http://schemas.microsoft.com/office/drawing/2014/main" id="{DEB74300-C564-E05C-2104-1D81660BD7A6}"/>
              </a:ext>
            </a:extLst>
          </p:cNvPr>
          <p:cNvGrpSpPr/>
          <p:nvPr/>
        </p:nvGrpSpPr>
        <p:grpSpPr>
          <a:xfrm>
            <a:off x="2936473" y="4139629"/>
            <a:ext cx="2741707" cy="2178617"/>
            <a:chOff x="996895" y="1485715"/>
            <a:chExt cx="2741707" cy="2178617"/>
          </a:xfrm>
        </p:grpSpPr>
        <p:pic>
          <p:nvPicPr>
            <p:cNvPr id="22" name="Picture 21">
              <a:extLst>
                <a:ext uri="{FF2B5EF4-FFF2-40B4-BE49-F238E27FC236}">
                  <a16:creationId xmlns:a16="http://schemas.microsoft.com/office/drawing/2014/main" id="{593A11E9-99B8-3A8E-852F-7B975CC63D51}"/>
                </a:ext>
              </a:extLst>
            </p:cNvPr>
            <p:cNvPicPr>
              <a:picLocks noChangeAspect="1"/>
            </p:cNvPicPr>
            <p:nvPr/>
          </p:nvPicPr>
          <p:blipFill>
            <a:blip r:embed="rId7" cstate="email">
              <a:extLst>
                <a:ext uri="{28A0092B-C50C-407E-A947-70E740481C1C}">
                  <a14:useLocalDpi xmlns:a14="http://schemas.microsoft.com/office/drawing/2010/main"/>
                </a:ext>
              </a:extLst>
            </a:blip>
            <a:srcRect/>
            <a:stretch/>
          </p:blipFill>
          <p:spPr>
            <a:xfrm>
              <a:off x="996895" y="1939757"/>
              <a:ext cx="2741707" cy="1724575"/>
            </a:xfrm>
            <a:prstGeom prst="rect">
              <a:avLst/>
            </a:prstGeom>
          </p:spPr>
        </p:pic>
        <p:sp>
          <p:nvSpPr>
            <p:cNvPr id="23" name="TextBox 22">
              <a:extLst>
                <a:ext uri="{FF2B5EF4-FFF2-40B4-BE49-F238E27FC236}">
                  <a16:creationId xmlns:a16="http://schemas.microsoft.com/office/drawing/2014/main" id="{499916C8-5293-C55C-A2A4-F1762DB7C74B}"/>
                </a:ext>
              </a:extLst>
            </p:cNvPr>
            <p:cNvSpPr txBox="1"/>
            <p:nvPr/>
          </p:nvSpPr>
          <p:spPr>
            <a:xfrm>
              <a:off x="1084262" y="1485715"/>
              <a:ext cx="2606707" cy="523220"/>
            </a:xfrm>
            <a:prstGeom prst="rect">
              <a:avLst/>
            </a:prstGeom>
            <a:noFill/>
          </p:spPr>
          <p:txBody>
            <a:bodyPr wrap="square" rtlCol="0">
              <a:spAutoFit/>
            </a:bodyPr>
            <a:lstStyle/>
            <a:p>
              <a:pPr algn="ctr"/>
              <a:r>
                <a:rPr lang="en-US" sz="2800" dirty="0"/>
                <a:t>Vandalized</a:t>
              </a:r>
            </a:p>
          </p:txBody>
        </p:sp>
      </p:grpSp>
      <p:grpSp>
        <p:nvGrpSpPr>
          <p:cNvPr id="24" name="Group 23">
            <a:extLst>
              <a:ext uri="{FF2B5EF4-FFF2-40B4-BE49-F238E27FC236}">
                <a16:creationId xmlns:a16="http://schemas.microsoft.com/office/drawing/2014/main" id="{0C205195-DDDF-2547-299E-EB9B7AA51FD7}"/>
              </a:ext>
            </a:extLst>
          </p:cNvPr>
          <p:cNvGrpSpPr/>
          <p:nvPr/>
        </p:nvGrpSpPr>
        <p:grpSpPr>
          <a:xfrm>
            <a:off x="5867739" y="4178708"/>
            <a:ext cx="2606707" cy="2139538"/>
            <a:chOff x="838200" y="1397304"/>
            <a:chExt cx="2606707" cy="2139538"/>
          </a:xfrm>
        </p:grpSpPr>
        <p:pic>
          <p:nvPicPr>
            <p:cNvPr id="25" name="Picture 24">
              <a:extLst>
                <a:ext uri="{FF2B5EF4-FFF2-40B4-BE49-F238E27FC236}">
                  <a16:creationId xmlns:a16="http://schemas.microsoft.com/office/drawing/2014/main" id="{E99ACBCB-97AC-2F08-899A-FEEF16AF6D2E}"/>
                </a:ext>
              </a:extLst>
            </p:cNvPr>
            <p:cNvPicPr>
              <a:picLocks noChangeAspect="1"/>
            </p:cNvPicPr>
            <p:nvPr/>
          </p:nvPicPr>
          <p:blipFill>
            <a:blip r:embed="rId8" cstate="email">
              <a:extLst>
                <a:ext uri="{28A0092B-C50C-407E-A947-70E740481C1C}">
                  <a14:useLocalDpi xmlns:a14="http://schemas.microsoft.com/office/drawing/2010/main"/>
                </a:ext>
              </a:extLst>
            </a:blip>
            <a:srcRect/>
            <a:stretch/>
          </p:blipFill>
          <p:spPr>
            <a:xfrm>
              <a:off x="1012935" y="1858969"/>
              <a:ext cx="2431972" cy="1677873"/>
            </a:xfrm>
            <a:prstGeom prst="rect">
              <a:avLst/>
            </a:prstGeom>
          </p:spPr>
        </p:pic>
        <p:sp>
          <p:nvSpPr>
            <p:cNvPr id="26" name="TextBox 25">
              <a:extLst>
                <a:ext uri="{FF2B5EF4-FFF2-40B4-BE49-F238E27FC236}">
                  <a16:creationId xmlns:a16="http://schemas.microsoft.com/office/drawing/2014/main" id="{3963A653-62B1-8A85-4A44-7922C26D93D7}"/>
                </a:ext>
              </a:extLst>
            </p:cNvPr>
            <p:cNvSpPr txBox="1"/>
            <p:nvPr/>
          </p:nvSpPr>
          <p:spPr>
            <a:xfrm>
              <a:off x="838200" y="1397304"/>
              <a:ext cx="2606707" cy="523220"/>
            </a:xfrm>
            <a:prstGeom prst="rect">
              <a:avLst/>
            </a:prstGeom>
            <a:noFill/>
          </p:spPr>
          <p:txBody>
            <a:bodyPr wrap="square" rtlCol="0">
              <a:spAutoFit/>
            </a:bodyPr>
            <a:lstStyle/>
            <a:p>
              <a:pPr algn="ctr"/>
              <a:r>
                <a:rPr lang="en-US" sz="2800" dirty="0"/>
                <a:t>Reflagged </a:t>
              </a:r>
            </a:p>
          </p:txBody>
        </p:sp>
      </p:grpSp>
      <p:grpSp>
        <p:nvGrpSpPr>
          <p:cNvPr id="28" name="Group 27">
            <a:extLst>
              <a:ext uri="{FF2B5EF4-FFF2-40B4-BE49-F238E27FC236}">
                <a16:creationId xmlns:a16="http://schemas.microsoft.com/office/drawing/2014/main" id="{0EF2BF35-0BE8-A718-DCFD-7F23C882E12B}"/>
              </a:ext>
            </a:extLst>
          </p:cNvPr>
          <p:cNvGrpSpPr/>
          <p:nvPr/>
        </p:nvGrpSpPr>
        <p:grpSpPr>
          <a:xfrm>
            <a:off x="8747092" y="3676848"/>
            <a:ext cx="2606707" cy="2594695"/>
            <a:chOff x="838199" y="1188367"/>
            <a:chExt cx="2606707" cy="2594695"/>
          </a:xfrm>
        </p:grpSpPr>
        <p:pic>
          <p:nvPicPr>
            <p:cNvPr id="29" name="Picture 28">
              <a:extLst>
                <a:ext uri="{FF2B5EF4-FFF2-40B4-BE49-F238E27FC236}">
                  <a16:creationId xmlns:a16="http://schemas.microsoft.com/office/drawing/2014/main" id="{C2EFB583-0637-7C05-F156-A1EA67455B56}"/>
                </a:ext>
              </a:extLst>
            </p:cNvPr>
            <p:cNvPicPr>
              <a:picLocks noChangeAspect="1"/>
            </p:cNvPicPr>
            <p:nvPr/>
          </p:nvPicPr>
          <p:blipFill>
            <a:blip r:embed="rId9" cstate="email">
              <a:extLst>
                <a:ext uri="{28A0092B-C50C-407E-A947-70E740481C1C}">
                  <a14:useLocalDpi xmlns:a14="http://schemas.microsoft.com/office/drawing/2010/main"/>
                </a:ext>
              </a:extLst>
            </a:blip>
            <a:srcRect/>
            <a:stretch/>
          </p:blipFill>
          <p:spPr>
            <a:xfrm>
              <a:off x="940392" y="2105189"/>
              <a:ext cx="2402322" cy="1677873"/>
            </a:xfrm>
            <a:prstGeom prst="rect">
              <a:avLst/>
            </a:prstGeom>
            <a:ln w="28575">
              <a:solidFill>
                <a:srgbClr val="FFC000"/>
              </a:solidFill>
            </a:ln>
          </p:spPr>
        </p:pic>
        <p:sp>
          <p:nvSpPr>
            <p:cNvPr id="30" name="TextBox 29">
              <a:extLst>
                <a:ext uri="{FF2B5EF4-FFF2-40B4-BE49-F238E27FC236}">
                  <a16:creationId xmlns:a16="http://schemas.microsoft.com/office/drawing/2014/main" id="{CFBF815C-CE75-362F-EE8D-8B3439A2AF70}"/>
                </a:ext>
              </a:extLst>
            </p:cNvPr>
            <p:cNvSpPr txBox="1"/>
            <p:nvPr/>
          </p:nvSpPr>
          <p:spPr>
            <a:xfrm>
              <a:off x="838199" y="1188367"/>
              <a:ext cx="2606707" cy="954107"/>
            </a:xfrm>
            <a:prstGeom prst="rect">
              <a:avLst/>
            </a:prstGeom>
            <a:noFill/>
          </p:spPr>
          <p:txBody>
            <a:bodyPr wrap="square" rtlCol="0">
              <a:spAutoFit/>
            </a:bodyPr>
            <a:lstStyle/>
            <a:p>
              <a:pPr algn="ctr"/>
              <a:r>
                <a:rPr lang="en-US" sz="2800" dirty="0"/>
                <a:t>Incomplete Intersections</a:t>
              </a:r>
            </a:p>
          </p:txBody>
        </p:sp>
      </p:grpSp>
      <p:sp>
        <p:nvSpPr>
          <p:cNvPr id="10" name="Text 1">
            <a:extLst>
              <a:ext uri="{FF2B5EF4-FFF2-40B4-BE49-F238E27FC236}">
                <a16:creationId xmlns:a16="http://schemas.microsoft.com/office/drawing/2014/main" id="{25B19477-82F3-89C2-4301-631D3E7A802C}"/>
              </a:ext>
            </a:extLst>
          </p:cNvPr>
          <p:cNvSpPr/>
          <p:nvPr/>
        </p:nvSpPr>
        <p:spPr>
          <a:xfrm>
            <a:off x="548640" y="566928"/>
            <a:ext cx="10515600" cy="640080"/>
          </a:xfrm>
          <a:prstGeom prst="rect">
            <a:avLst/>
          </a:prstGeom>
          <a:noFill/>
          <a:ln/>
        </p:spPr>
        <p:txBody>
          <a:bodyPr wrap="square" lIns="0" tIns="0" rIns="0" bIns="0" rtlCol="0" anchor="ctr"/>
          <a:lstStyle/>
          <a:p>
            <a:pPr marL="0" indent="0">
              <a:buNone/>
            </a:pPr>
            <a:r>
              <a:rPr lang="en-US" sz="5400" b="1" dirty="0">
                <a:ea typeface="Cambria" pitchFamily="34" charset="-122"/>
                <a:cs typeface="Cambria" pitchFamily="34" charset="-120"/>
              </a:rPr>
              <a:t>Damage Types</a:t>
            </a:r>
            <a:endParaRPr lang="en-US" sz="5400" dirty="0"/>
          </a:p>
        </p:txBody>
      </p:sp>
    </p:spTree>
    <p:extLst>
      <p:ext uri="{BB962C8B-B14F-4D97-AF65-F5344CB8AC3E}">
        <p14:creationId xmlns:p14="http://schemas.microsoft.com/office/powerpoint/2010/main" val="558269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D2A30755-F75E-4F64-6CB5-C6D05C40738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73255545-A2DC-DD92-D436-E8FCDEE2EA68}"/>
              </a:ext>
            </a:extLst>
          </p:cNvPr>
          <p:cNvSpPr/>
          <p:nvPr/>
        </p:nvSpPr>
        <p:spPr>
          <a:xfrm>
            <a:off x="618066" y="334433"/>
            <a:ext cx="5334000" cy="914400"/>
          </a:xfrm>
          <a:prstGeom prst="rect">
            <a:avLst/>
          </a:prstGeom>
          <a:noFill/>
          <a:ln/>
        </p:spPr>
        <p:txBody>
          <a:bodyPr wrap="square" lIns="0" tIns="0" rIns="0" bIns="0" rtlCol="0" anchor="ctr"/>
          <a:lstStyle/>
          <a:p>
            <a:pPr marL="0" indent="0">
              <a:buNone/>
            </a:pPr>
            <a:r>
              <a:rPr lang="en-US" sz="5400" b="1" dirty="0">
                <a:solidFill>
                  <a:srgbClr val="FFFFFF"/>
                </a:solidFill>
                <a:ea typeface="Cambria" pitchFamily="34" charset="-122"/>
                <a:cs typeface="Cambria" pitchFamily="34" charset="-120"/>
              </a:rPr>
              <a:t>Demo</a:t>
            </a:r>
            <a:endParaRPr lang="en-US" sz="5400" dirty="0"/>
          </a:p>
        </p:txBody>
      </p:sp>
      <p:sp>
        <p:nvSpPr>
          <p:cNvPr id="5" name="TextBox 4">
            <a:extLst>
              <a:ext uri="{FF2B5EF4-FFF2-40B4-BE49-F238E27FC236}">
                <a16:creationId xmlns:a16="http://schemas.microsoft.com/office/drawing/2014/main" id="{8A664775-5F27-F417-30CC-F09921B04CEE}"/>
              </a:ext>
            </a:extLst>
          </p:cNvPr>
          <p:cNvSpPr txBox="1"/>
          <p:nvPr/>
        </p:nvSpPr>
        <p:spPr>
          <a:xfrm>
            <a:off x="618067" y="1573367"/>
            <a:ext cx="5875866" cy="3970318"/>
          </a:xfrm>
          <a:prstGeom prst="rect">
            <a:avLst/>
          </a:prstGeom>
          <a:noFill/>
        </p:spPr>
        <p:txBody>
          <a:bodyPr wrap="square">
            <a:spAutoFit/>
          </a:bodyPr>
          <a:lstStyle/>
          <a:p>
            <a:r>
              <a:rPr lang="en-US" sz="2800" dirty="0">
                <a:solidFill>
                  <a:schemeClr val="bg1"/>
                </a:solidFill>
              </a:rPr>
              <a:t>Please download the zip file, and extract it to your Downloads folder.</a:t>
            </a:r>
          </a:p>
          <a:p>
            <a:endParaRPr lang="en-US" sz="2800" dirty="0">
              <a:solidFill>
                <a:schemeClr val="bg1"/>
              </a:solidFill>
            </a:endParaRPr>
          </a:p>
          <a:p>
            <a:r>
              <a:rPr lang="en-US" sz="2800" dirty="0">
                <a:solidFill>
                  <a:schemeClr val="bg1"/>
                </a:solidFill>
                <a:hlinkClick r:id="rId3">
                  <a:extLst>
                    <a:ext uri="{A12FA001-AC4F-418D-AE19-62706E023703}">
                      <ahyp:hlinkClr xmlns:ahyp="http://schemas.microsoft.com/office/drawing/2018/hyperlinkcolor" val="tx"/>
                    </a:ext>
                  </a:extLst>
                </a:hlinkClick>
              </a:rPr>
              <a:t>https://github.com/mromano1/StreetNameSigns/tree/main/LearningSummit2026Demo</a:t>
            </a:r>
            <a:endParaRPr lang="en-US" sz="2800" dirty="0">
              <a:solidFill>
                <a:schemeClr val="bg1"/>
              </a:solidFill>
            </a:endParaRPr>
          </a:p>
          <a:p>
            <a:endParaRPr lang="en-US" sz="2800" dirty="0">
              <a:solidFill>
                <a:schemeClr val="bg1"/>
              </a:solidFill>
            </a:endParaRPr>
          </a:p>
          <a:p>
            <a:r>
              <a:rPr lang="en-US" sz="2800" dirty="0">
                <a:solidFill>
                  <a:schemeClr val="bg1"/>
                </a:solidFill>
              </a:rPr>
              <a:t>Please make sure you have Python 3.11 or higher installed.</a:t>
            </a:r>
          </a:p>
        </p:txBody>
      </p:sp>
      <p:pic>
        <p:nvPicPr>
          <p:cNvPr id="7" name="Picture 6">
            <a:extLst>
              <a:ext uri="{FF2B5EF4-FFF2-40B4-BE49-F238E27FC236}">
                <a16:creationId xmlns:a16="http://schemas.microsoft.com/office/drawing/2014/main" id="{60E88D9B-5515-9E4F-3A90-CEE0EEC150E0}"/>
              </a:ext>
            </a:extLst>
          </p:cNvPr>
          <p:cNvPicPr>
            <a:picLocks noChangeAspect="1"/>
          </p:cNvPicPr>
          <p:nvPr/>
        </p:nvPicPr>
        <p:blipFill>
          <a:blip r:embed="rId4"/>
          <a:stretch>
            <a:fillRect/>
          </a:stretch>
        </p:blipFill>
        <p:spPr>
          <a:xfrm>
            <a:off x="6985000" y="1248833"/>
            <a:ext cx="4588933" cy="4588933"/>
          </a:xfrm>
          <a:prstGeom prst="rect">
            <a:avLst/>
          </a:prstGeom>
        </p:spPr>
      </p:pic>
    </p:spTree>
    <p:extLst>
      <p:ext uri="{BB962C8B-B14F-4D97-AF65-F5344CB8AC3E}">
        <p14:creationId xmlns:p14="http://schemas.microsoft.com/office/powerpoint/2010/main" val="3677526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6006254" y="2514600"/>
            <a:ext cx="2976880" cy="914400"/>
          </a:xfrm>
          <a:prstGeom prst="rect">
            <a:avLst/>
          </a:prstGeom>
          <a:noFill/>
          <a:ln/>
        </p:spPr>
        <p:txBody>
          <a:bodyPr wrap="square" lIns="0" tIns="0" rIns="0" bIns="0" rtlCol="0" anchor="ctr"/>
          <a:lstStyle/>
          <a:p>
            <a:pPr marL="0" indent="0">
              <a:buNone/>
            </a:pPr>
            <a:r>
              <a:rPr lang="en-US" sz="4000" dirty="0">
                <a:solidFill>
                  <a:srgbClr val="FFFFFF"/>
                </a:solidFill>
                <a:ea typeface="Cambria" pitchFamily="34" charset="-122"/>
                <a:cs typeface="Cambria" pitchFamily="34" charset="-120"/>
              </a:rPr>
              <a:t>Questions?</a:t>
            </a:r>
            <a:endParaRPr lang="en-US" sz="4000" dirty="0"/>
          </a:p>
        </p:txBody>
      </p:sp>
      <p:sp>
        <p:nvSpPr>
          <p:cNvPr id="4" name="Text 2"/>
          <p:cNvSpPr/>
          <p:nvPr/>
        </p:nvSpPr>
        <p:spPr>
          <a:xfrm>
            <a:off x="5442375" y="220135"/>
            <a:ext cx="3259666" cy="914399"/>
          </a:xfrm>
          <a:prstGeom prst="rect">
            <a:avLst/>
          </a:prstGeom>
          <a:noFill/>
          <a:ln/>
        </p:spPr>
        <p:txBody>
          <a:bodyPr wrap="square" lIns="0" tIns="0" rIns="0" bIns="0" rtlCol="0" anchor="ctr"/>
          <a:lstStyle/>
          <a:p>
            <a:pPr marL="0" indent="0">
              <a:buNone/>
            </a:pPr>
            <a:r>
              <a:rPr lang="en-US" sz="5400" b="1" dirty="0">
                <a:solidFill>
                  <a:schemeClr val="bg1"/>
                </a:solidFill>
                <a:latin typeface="Calibri" pitchFamily="34" charset="0"/>
                <a:ea typeface="Calibri" pitchFamily="34" charset="-122"/>
                <a:cs typeface="Calibri" pitchFamily="34" charset="-120"/>
              </a:rPr>
              <a:t>Thank You</a:t>
            </a:r>
            <a:endParaRPr lang="en-US" sz="5400" b="1" dirty="0">
              <a:solidFill>
                <a:schemeClr val="bg1"/>
              </a:solidFill>
            </a:endParaRPr>
          </a:p>
        </p:txBody>
      </p:sp>
      <p:sp>
        <p:nvSpPr>
          <p:cNvPr id="5" name="Text 3"/>
          <p:cNvSpPr/>
          <p:nvPr/>
        </p:nvSpPr>
        <p:spPr>
          <a:xfrm>
            <a:off x="5376333" y="5388186"/>
            <a:ext cx="8229600" cy="1371600"/>
          </a:xfrm>
          <a:prstGeom prst="rect">
            <a:avLst/>
          </a:prstGeom>
          <a:noFill/>
          <a:ln/>
        </p:spPr>
        <p:txBody>
          <a:bodyPr wrap="square" rtlCol="0" anchor="t"/>
          <a:lstStyle/>
          <a:p>
            <a:pPr>
              <a:spcAft>
                <a:spcPts val="800"/>
              </a:spcAft>
            </a:pPr>
            <a:r>
              <a:rPr lang="en-US" sz="2400" i="1" dirty="0">
                <a:solidFill>
                  <a:srgbClr val="FFFFFF"/>
                </a:solidFill>
                <a:ea typeface="Calibri" pitchFamily="34" charset="-122"/>
                <a:cs typeface="Calibri" pitchFamily="34" charset="-120"/>
              </a:rPr>
              <a:t>Karim </a:t>
            </a:r>
            <a:r>
              <a:rPr lang="en-US" sz="2400" i="1" dirty="0" err="1">
                <a:solidFill>
                  <a:srgbClr val="FFFFFF"/>
                </a:solidFill>
                <a:ea typeface="Calibri" pitchFamily="34" charset="-122"/>
                <a:cs typeface="Calibri" pitchFamily="34" charset="-120"/>
              </a:rPr>
              <a:t>Nabahi</a:t>
            </a:r>
            <a:r>
              <a:rPr lang="en-US" sz="2400" i="1" dirty="0">
                <a:solidFill>
                  <a:srgbClr val="FFFFFF"/>
                </a:solidFill>
                <a:ea typeface="Calibri" pitchFamily="34" charset="-122"/>
                <a:cs typeface="Calibri" pitchFamily="34" charset="-120"/>
              </a:rPr>
              <a:t>: karim@nabahi.com</a:t>
            </a:r>
            <a:endParaRPr lang="en-US" sz="2400" i="1" dirty="0"/>
          </a:p>
          <a:p>
            <a:pPr marL="0" indent="0">
              <a:spcAft>
                <a:spcPts val="800"/>
              </a:spcAft>
              <a:buNone/>
            </a:pPr>
            <a:r>
              <a:rPr lang="en-US" sz="2400" i="1" dirty="0">
                <a:solidFill>
                  <a:srgbClr val="FFFFFF"/>
                </a:solidFill>
                <a:ea typeface="Calibri" pitchFamily="34" charset="-122"/>
                <a:cs typeface="Calibri" pitchFamily="34" charset="-120"/>
              </a:rPr>
              <a:t>Maddalena Romano: mromano1@dot.nyc.gov</a:t>
            </a:r>
            <a:endParaRPr lang="en-US" sz="2400" i="1" dirty="0"/>
          </a:p>
        </p:txBody>
      </p:sp>
      <p:pic>
        <p:nvPicPr>
          <p:cNvPr id="6" name="Picture 5" descr="How would you like to see NYC street improve?, Here’s Carl Sundstrom Chief  of Cycling and Micromobility at NYC DOT on how new sensors are being  installed to track data on how people and vehicles use ...">
            <a:extLst>
              <a:ext uri="{FF2B5EF4-FFF2-40B4-BE49-F238E27FC236}">
                <a16:creationId xmlns:a16="http://schemas.microsoft.com/office/drawing/2014/main" id="{42296D24-FE11-8EF9-655A-09E758653FE2}"/>
              </a:ext>
            </a:extLst>
          </p:cNvPr>
          <p:cNvPicPr>
            <a:picLocks noChangeAspect="1"/>
          </p:cNvPicPr>
          <p:nvPr/>
        </p:nvPicPr>
        <p:blipFill>
          <a:blip r:embed="rId3" cstate="email">
            <a:alphaModFix amt="50000"/>
            <a:extLst>
              <a:ext uri="{28A0092B-C50C-407E-A947-70E740481C1C}">
                <a14:useLocalDpi xmlns:a14="http://schemas.microsoft.com/office/drawing/2010/main"/>
              </a:ext>
            </a:extLst>
          </a:blip>
          <a:srcRect/>
          <a:stretch>
            <a:fillRect/>
          </a:stretch>
        </p:blipFill>
        <p:spPr>
          <a:xfrm>
            <a:off x="0" y="0"/>
            <a:ext cx="5190067" cy="6858000"/>
          </a:xfrm>
          <a:prstGeom prst="flowChartDelay">
            <a:avLst/>
          </a:prstGeom>
          <a:effectLst>
            <a:outerShdw blurRad="50800" dist="254000" algn="l" rotWithShape="0">
              <a:schemeClr val="tx1">
                <a:alpha val="40000"/>
              </a:scheme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23686</TotalTime>
  <Words>414</Words>
  <Application>Microsoft Office PowerPoint</Application>
  <PresentationFormat>Widescreen</PresentationFormat>
  <Paragraphs>53</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Progress Report - July 9, 2026</dc:title>
  <dc:subject>PptxGenJS Presentation</dc:subject>
  <dc:creator>NYC DOT Street Name Signs Project Team</dc:creator>
  <cp:lastModifiedBy>Maddalena Romano</cp:lastModifiedBy>
  <cp:revision>17</cp:revision>
  <dcterms:created xsi:type="dcterms:W3CDTF">2026-07-08T15:20:18Z</dcterms:created>
  <dcterms:modified xsi:type="dcterms:W3CDTF">2026-10-20T20:44:36Z</dcterms:modified>
</cp:coreProperties>
</file>